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7" r:id="rId5"/>
    <p:sldMasterId id="214748366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y="5143500" cx="9144000"/>
  <p:notesSz cx="6858000" cy="9144000"/>
  <p:embeddedFontLst>
    <p:embeddedFont>
      <p:font typeface="Alexandria"/>
      <p:regular r:id="rId20"/>
      <p:bold r:id="rId21"/>
    </p:embeddedFont>
    <p:embeddedFont>
      <p:font typeface="Sora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732F6A3-8A15-4852-9837-306AEC36C8DE}">
  <a:tblStyle styleId="{A732F6A3-8A15-4852-9837-306AEC36C8D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lexandria-regular.fntdata"/><Relationship Id="rId11" Type="http://schemas.openxmlformats.org/officeDocument/2006/relationships/slide" Target="slides/slide4.xml"/><Relationship Id="rId22" Type="http://schemas.openxmlformats.org/officeDocument/2006/relationships/font" Target="fonts/Sora-regular.fntdata"/><Relationship Id="rId10" Type="http://schemas.openxmlformats.org/officeDocument/2006/relationships/slide" Target="slides/slide3.xml"/><Relationship Id="rId21" Type="http://schemas.openxmlformats.org/officeDocument/2006/relationships/font" Target="fonts/Alexandria-bold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23" Type="http://schemas.openxmlformats.org/officeDocument/2006/relationships/font" Target="fonts/Sora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55b83bd731_2_30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g355b83bd731_2_30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83" name="Google Shape;83;g355b83bd731_2_30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pt-BR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5b83bd731_0_16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g355b83bd731_0_16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97" name="Google Shape;97;g355b83bd731_0_16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pt-BR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55b83bd731_2_46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355b83bd731_2_46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15" name="Google Shape;115;g355b83bd731_2_46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pt-BR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55b83bd731_2_66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355b83bd731_2_66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39" name="Google Shape;139;g355b83bd731_2_66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pt-BR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55b83bd731_2_81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355b83bd731_2_81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58" name="Google Shape;158;g355b83bd731_2_81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pt-BR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55b83bd731_2_97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g355b83bd731_2_97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75" name="Google Shape;175;g355b83bd731_2_97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pt-BR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55b83bd731_2_112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g355b83bd731_2_112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94" name="Google Shape;194;g355b83bd731_2_112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pt-BR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55b83bd731_2_132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355b83bd731_2_132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217" name="Google Shape;217;g355b83bd731_2_132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pt-BR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55b83bd731_4_48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g355b83bd731_4_48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234" name="Google Shape;234;g355b83bd731_4_48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pt-BR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55b83bd731_4_68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g355b83bd731_4_68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243" name="Google Shape;243;g355b83bd731_4_68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pt-BR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55b83bd731_4_76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g355b83bd731_4_76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253" name="Google Shape;253;g355b83bd731_4_76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pt-BR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55b83bd731_4_83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g355b83bd731_4_83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262" name="Google Shape;262;g355b83bd731_4_83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pt-BR" sz="1100"/>
              <a:t>‹#›</a:t>
            </a:fld>
            <a:endParaRPr sz="11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9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9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9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9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9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9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9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7EEF9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4" name="Google Shape;54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7EEF9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8" name="Google Shape;58;p1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7EEF9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2" name="Google Shape;62;p1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7EEF9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6" name="Google Shape;66;p1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7EEF9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0" name="Google Shape;70;p1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7EEF9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4" name="Google Shape;74;p1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7EEF9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8" name="Google Shape;78;p2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theme" Target="../theme/theme3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5.png"/><Relationship Id="rId5" Type="http://schemas.openxmlformats.org/officeDocument/2006/relationships/image" Target="../media/image10.png"/><Relationship Id="rId6" Type="http://schemas.openxmlformats.org/officeDocument/2006/relationships/image" Target="../media/image4.png"/><Relationship Id="rId7" Type="http://schemas.openxmlformats.org/officeDocument/2006/relationships/image" Target="../media/image17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8.png"/><Relationship Id="rId5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2"/>
          <p:cNvSpPr/>
          <p:nvPr/>
        </p:nvSpPr>
        <p:spPr>
          <a:xfrm>
            <a:off x="473943" y="930920"/>
            <a:ext cx="6598593" cy="445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2800"/>
              <a:buFont typeface="Alexandria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2"/>
          <p:cNvSpPr/>
          <p:nvPr/>
        </p:nvSpPr>
        <p:spPr>
          <a:xfrm>
            <a:off x="8032800" y="4871550"/>
            <a:ext cx="1111200" cy="2166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2"/>
          <p:cNvSpPr/>
          <p:nvPr/>
        </p:nvSpPr>
        <p:spPr>
          <a:xfrm>
            <a:off x="473943" y="930920"/>
            <a:ext cx="65985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2800"/>
              <a:buFont typeface="Alexandria"/>
              <a:buNone/>
            </a:pPr>
            <a:r>
              <a:rPr lang="pt-BR" sz="3300">
                <a:solidFill>
                  <a:srgbClr val="1F1E1E"/>
                </a:solidFill>
                <a:latin typeface="Alexandria"/>
                <a:ea typeface="Alexandria"/>
                <a:cs typeface="Alexandria"/>
                <a:sym typeface="Alexandria"/>
              </a:rPr>
              <a:t>Seminário Mestrado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2"/>
          <p:cNvSpPr txBox="1"/>
          <p:nvPr/>
        </p:nvSpPr>
        <p:spPr>
          <a:xfrm>
            <a:off x="473950" y="1794775"/>
            <a:ext cx="4377900" cy="13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Sora"/>
                <a:ea typeface="Sora"/>
                <a:cs typeface="Sora"/>
                <a:sym typeface="Sora"/>
              </a:rPr>
              <a:t>Proposta de modelagem para</a:t>
            </a:r>
            <a:r>
              <a:rPr lang="pt-BR" sz="1700">
                <a:latin typeface="Sora"/>
                <a:ea typeface="Sora"/>
                <a:cs typeface="Sora"/>
                <a:sym typeface="Sora"/>
              </a:rPr>
              <a:t> transferência de massa multicomponente com fluxos totalmente acoplados</a:t>
            </a:r>
            <a:endParaRPr sz="1700"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9" name="Google Shape;89;p22"/>
          <p:cNvSpPr txBox="1"/>
          <p:nvPr/>
        </p:nvSpPr>
        <p:spPr>
          <a:xfrm>
            <a:off x="582725" y="3449725"/>
            <a:ext cx="4607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Sora"/>
                <a:ea typeface="Sora"/>
                <a:cs typeface="Sora"/>
                <a:sym typeface="Sora"/>
              </a:rPr>
              <a:t>Aluna: Luíza Melhem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Sora"/>
                <a:ea typeface="Sora"/>
                <a:cs typeface="Sora"/>
                <a:sym typeface="Sora"/>
              </a:rPr>
              <a:t>DRE: 124164631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Sora"/>
                <a:ea typeface="Sora"/>
                <a:cs typeface="Sora"/>
                <a:sym typeface="Sora"/>
              </a:rPr>
              <a:t>Orientador: Luiz Fernando Lopes Rodrigues Silva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0" name="Google Shape;90;p22"/>
          <p:cNvSpPr txBox="1"/>
          <p:nvPr/>
        </p:nvSpPr>
        <p:spPr>
          <a:xfrm>
            <a:off x="6984900" y="4687950"/>
            <a:ext cx="226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07 de maio de 2025</a:t>
            </a:r>
            <a:endParaRPr/>
          </a:p>
        </p:txBody>
      </p:sp>
      <p:pic>
        <p:nvPicPr>
          <p:cNvPr id="91" name="Google Shape;9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9000" y="337575"/>
            <a:ext cx="1070125" cy="131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7125" y="1832370"/>
            <a:ext cx="3077775" cy="73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92625" y="2945196"/>
            <a:ext cx="2872274" cy="1129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3"/>
          <p:cNvSpPr/>
          <p:nvPr/>
        </p:nvSpPr>
        <p:spPr>
          <a:xfrm>
            <a:off x="473943" y="930920"/>
            <a:ext cx="65985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2800"/>
              <a:buFont typeface="Alexandria"/>
              <a:buNone/>
            </a:pPr>
            <a:r>
              <a:rPr b="0" i="0" lang="pt-BR" sz="2800" u="none" cap="none" strike="noStrike">
                <a:solidFill>
                  <a:srgbClr val="1F1E1E"/>
                </a:solidFill>
                <a:latin typeface="Alexandria"/>
                <a:ea typeface="Alexandria"/>
                <a:cs typeface="Alexandria"/>
                <a:sym typeface="Alexandria"/>
              </a:rPr>
              <a:t>Introdução à Transferência de Massa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3"/>
          <p:cNvSpPr/>
          <p:nvPr/>
        </p:nvSpPr>
        <p:spPr>
          <a:xfrm>
            <a:off x="473943" y="1579439"/>
            <a:ext cx="21381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15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1700"/>
              <a:buFont typeface="Alexandria"/>
              <a:buNone/>
            </a:pPr>
            <a:r>
              <a:rPr b="1" i="0" lang="pt-BR" sz="1700" u="none" cap="none" strike="noStrike">
                <a:solidFill>
                  <a:srgbClr val="1F1E1E"/>
                </a:solidFill>
                <a:latin typeface="Alexandria"/>
                <a:ea typeface="Alexandria"/>
                <a:cs typeface="Alexandria"/>
                <a:sym typeface="Alexandria"/>
              </a:rPr>
              <a:t>O que é?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3"/>
          <p:cNvSpPr/>
          <p:nvPr/>
        </p:nvSpPr>
        <p:spPr>
          <a:xfrm>
            <a:off x="473943" y="2049736"/>
            <a:ext cx="8196000" cy="2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2250" lvl="0" marL="215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Sora"/>
              <a:buChar char="•"/>
            </a:pPr>
            <a:r>
              <a:rPr b="0" i="0" lang="pt-BR" sz="11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Movimento de </a:t>
            </a:r>
            <a:r>
              <a:rPr lang="pt-BR" sz="1100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espécies químicas</a:t>
            </a:r>
            <a:r>
              <a:rPr b="0" i="0" lang="pt-BR" sz="11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pt-BR" sz="1100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de uma posição a outra devido ao gradiente de força motriz.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3"/>
          <p:cNvSpPr/>
          <p:nvPr/>
        </p:nvSpPr>
        <p:spPr>
          <a:xfrm>
            <a:off x="473943" y="2313756"/>
            <a:ext cx="8196000" cy="2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2250" lvl="0" marL="215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Sora"/>
              <a:buChar char="•"/>
            </a:pPr>
            <a:r>
              <a:rPr b="0" i="0" lang="pt-BR" sz="11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Aplicações: difusão, destilação, absorção, secagem.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3"/>
          <p:cNvSpPr/>
          <p:nvPr/>
        </p:nvSpPr>
        <p:spPr>
          <a:xfrm>
            <a:off x="473943" y="2733526"/>
            <a:ext cx="21381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15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1700"/>
              <a:buFont typeface="Alexandria"/>
              <a:buNone/>
            </a:pPr>
            <a:r>
              <a:rPr b="1" i="0" lang="pt-BR" sz="1700" u="none" cap="none" strike="noStrike">
                <a:solidFill>
                  <a:srgbClr val="1F1E1E"/>
                </a:solidFill>
                <a:latin typeface="Alexandria"/>
                <a:ea typeface="Alexandria"/>
                <a:cs typeface="Alexandria"/>
                <a:sym typeface="Alexandria"/>
              </a:rPr>
              <a:t>Variáveis-Chave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3"/>
          <p:cNvSpPr/>
          <p:nvPr/>
        </p:nvSpPr>
        <p:spPr>
          <a:xfrm>
            <a:off x="473943" y="3203823"/>
            <a:ext cx="8196000" cy="2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2250" lvl="0" marL="215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Sora"/>
              <a:buChar char="•"/>
            </a:pPr>
            <a:r>
              <a:rPr b="1" i="0" lang="pt-BR" sz="11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Concentração (C)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3"/>
          <p:cNvSpPr/>
          <p:nvPr/>
        </p:nvSpPr>
        <p:spPr>
          <a:xfrm>
            <a:off x="473943" y="3467844"/>
            <a:ext cx="8196000" cy="2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2250" lvl="0" marL="215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Sora"/>
              <a:buChar char="•"/>
            </a:pPr>
            <a:r>
              <a:rPr b="1" i="0" lang="pt-BR" sz="11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Difusividade (D)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3"/>
          <p:cNvSpPr/>
          <p:nvPr/>
        </p:nvSpPr>
        <p:spPr>
          <a:xfrm>
            <a:off x="473943" y="3731865"/>
            <a:ext cx="8196000" cy="2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2250" lvl="0" marL="215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Sora"/>
              <a:buChar char="•"/>
            </a:pPr>
            <a:r>
              <a:rPr b="1" i="0" lang="pt-BR" sz="11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Gradiente de concentração (∇C)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3"/>
          <p:cNvSpPr/>
          <p:nvPr/>
        </p:nvSpPr>
        <p:spPr>
          <a:xfrm>
            <a:off x="473943" y="3995886"/>
            <a:ext cx="8196000" cy="2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2250" lvl="0" marL="215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Sora"/>
              <a:buChar char="•"/>
            </a:pPr>
            <a:r>
              <a:rPr b="1" i="0" lang="pt-BR" sz="11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Velocidade média do fluido (v)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p23"/>
          <p:cNvPicPr preferRelativeResize="0"/>
          <p:nvPr/>
        </p:nvPicPr>
        <p:blipFill rotWithShape="1">
          <a:blip r:embed="rId3">
            <a:alphaModFix/>
          </a:blip>
          <a:srcRect b="21268" l="12203" r="9364" t="40676"/>
          <a:stretch/>
        </p:blipFill>
        <p:spPr>
          <a:xfrm flipH="1" rot="10800000">
            <a:off x="5279063" y="2686938"/>
            <a:ext cx="3100829" cy="1139828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3"/>
          <p:cNvSpPr txBox="1"/>
          <p:nvPr/>
        </p:nvSpPr>
        <p:spPr>
          <a:xfrm flipH="1" rot="1109">
            <a:off x="6787521" y="3927614"/>
            <a:ext cx="9303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50" lIns="57150" spcFirstLastPara="1" rIns="57150" wrap="square" tIns="57150">
            <a:spAutoFit/>
          </a:bodyPr>
          <a:lstStyle/>
          <a:p>
            <a:pPr indent="0" lvl="0" marL="2921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pt-BR" sz="11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∇C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3"/>
          <p:cNvSpPr/>
          <p:nvPr/>
        </p:nvSpPr>
        <p:spPr>
          <a:xfrm>
            <a:off x="8032800" y="4848250"/>
            <a:ext cx="1111200" cy="2166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3"/>
          <p:cNvSpPr/>
          <p:nvPr/>
        </p:nvSpPr>
        <p:spPr>
          <a:xfrm>
            <a:off x="8032800" y="4871550"/>
            <a:ext cx="1111200" cy="2166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/>
          <p:nvPr/>
        </p:nvSpPr>
        <p:spPr>
          <a:xfrm>
            <a:off x="473943" y="1018059"/>
            <a:ext cx="7555260" cy="445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2800"/>
              <a:buFont typeface="Alexandria"/>
              <a:buNone/>
            </a:pPr>
            <a:r>
              <a:rPr b="0" i="0" lang="pt-BR" sz="2800" u="none" cap="none" strike="noStrike">
                <a:solidFill>
                  <a:srgbClr val="1F1E1E"/>
                </a:solidFill>
                <a:latin typeface="Alexandria"/>
                <a:ea typeface="Alexandria"/>
                <a:cs typeface="Alexandria"/>
                <a:sym typeface="Alexandria"/>
              </a:rPr>
              <a:t>Transferência de Massa Multicomponente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4"/>
          <p:cNvSpPr/>
          <p:nvPr/>
        </p:nvSpPr>
        <p:spPr>
          <a:xfrm>
            <a:off x="473969" y="1686859"/>
            <a:ext cx="2641688" cy="3072938"/>
          </a:xfrm>
          <a:prstGeom prst="roundRect">
            <a:avLst>
              <a:gd fmla="val 2313" name="adj"/>
            </a:avLst>
          </a:prstGeom>
          <a:solidFill>
            <a:srgbClr val="D5DCF6"/>
          </a:solidFill>
          <a:ln cap="flat" cmpd="sng" w="9525">
            <a:solidFill>
              <a:srgbClr val="BBC2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4"/>
          <p:cNvSpPr/>
          <p:nvPr/>
        </p:nvSpPr>
        <p:spPr>
          <a:xfrm>
            <a:off x="614065" y="1806699"/>
            <a:ext cx="2361530" cy="445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Alexandria"/>
              <a:buNone/>
            </a:pPr>
            <a:r>
              <a:rPr b="1" i="0" lang="pt-BR" sz="1400" u="none" cap="none" strike="noStrike">
                <a:solidFill>
                  <a:srgbClr val="3B3535"/>
                </a:solidFill>
                <a:latin typeface="Alexandria"/>
                <a:ea typeface="Alexandria"/>
                <a:cs typeface="Alexandria"/>
                <a:sym typeface="Alexandria"/>
              </a:rPr>
              <a:t>Equações de continuidade (fase i)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4"/>
          <p:cNvSpPr/>
          <p:nvPr/>
        </p:nvSpPr>
        <p:spPr>
          <a:xfrm>
            <a:off x="614047" y="2508096"/>
            <a:ext cx="2361563" cy="378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300"/>
              <a:buFont typeface="Sora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4"/>
          <p:cNvSpPr/>
          <p:nvPr/>
        </p:nvSpPr>
        <p:spPr>
          <a:xfrm>
            <a:off x="614049" y="3243583"/>
            <a:ext cx="2361563" cy="21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Sora"/>
              <a:buNone/>
            </a:pPr>
            <a:r>
              <a:rPr b="0" i="0" lang="pt-BR" sz="11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ρi​ = concentração mássica de i (kg/m³)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4"/>
          <p:cNvSpPr/>
          <p:nvPr/>
        </p:nvSpPr>
        <p:spPr>
          <a:xfrm>
            <a:off x="614031" y="3758999"/>
            <a:ext cx="2361563" cy="21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Sora"/>
              <a:buNone/>
            </a:pPr>
            <a:r>
              <a:rPr b="0" i="0" lang="pt-BR" sz="11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Ni = fluxo total da fase i  (kg/m²·s)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4"/>
          <p:cNvSpPr/>
          <p:nvPr/>
        </p:nvSpPr>
        <p:spPr>
          <a:xfrm>
            <a:off x="614034" y="4274426"/>
            <a:ext cx="2361563" cy="21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Sora"/>
              <a:buNone/>
            </a:pPr>
            <a:r>
              <a:rPr b="0" i="0" lang="pt-BR" sz="11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Ri = termo de </a:t>
            </a:r>
            <a:r>
              <a:rPr lang="pt-BR" sz="1100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geração/consumo</a:t>
            </a:r>
            <a:r>
              <a:rPr b="0" i="0" lang="pt-BR" sz="11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 (kg/m³·s)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4"/>
          <p:cNvSpPr/>
          <p:nvPr/>
        </p:nvSpPr>
        <p:spPr>
          <a:xfrm>
            <a:off x="3251156" y="1686859"/>
            <a:ext cx="2641688" cy="3072938"/>
          </a:xfrm>
          <a:prstGeom prst="roundRect">
            <a:avLst>
              <a:gd fmla="val 2313" name="adj"/>
            </a:avLst>
          </a:prstGeom>
          <a:solidFill>
            <a:srgbClr val="D5DCF6"/>
          </a:solidFill>
          <a:ln cap="flat" cmpd="sng" w="9525">
            <a:solidFill>
              <a:srgbClr val="BBC2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4"/>
          <p:cNvSpPr/>
          <p:nvPr/>
        </p:nvSpPr>
        <p:spPr>
          <a:xfrm>
            <a:off x="3391198" y="1806699"/>
            <a:ext cx="1998375" cy="2225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Alexandria"/>
              <a:buNone/>
            </a:pPr>
            <a:r>
              <a:rPr b="1" i="0" lang="pt-BR" sz="1400" u="none" cap="none" strike="noStrike">
                <a:solidFill>
                  <a:srgbClr val="3B3535"/>
                </a:solidFill>
                <a:latin typeface="Alexandria"/>
                <a:ea typeface="Alexandria"/>
                <a:cs typeface="Alexandria"/>
                <a:sym typeface="Alexandria"/>
              </a:rPr>
              <a:t>Lei de Fick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4"/>
          <p:cNvSpPr/>
          <p:nvPr/>
        </p:nvSpPr>
        <p:spPr>
          <a:xfrm>
            <a:off x="3391213" y="2949259"/>
            <a:ext cx="2361563" cy="433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2250" lvl="0" marL="2921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Sora"/>
              <a:buChar char="●"/>
            </a:pPr>
            <a:r>
              <a:rPr b="0" i="0" lang="pt-BR" sz="1100" u="none" cap="none" strike="noStrike">
                <a:solidFill>
                  <a:srgbClr val="000000"/>
                </a:solidFill>
                <a:latin typeface="Sora"/>
                <a:ea typeface="Sora"/>
                <a:cs typeface="Sora"/>
                <a:sym typeface="Sora"/>
              </a:rPr>
              <a:t>Predominante nas aplicações industriais.</a:t>
            </a:r>
            <a:endParaRPr b="0" i="0" sz="1100" u="none" cap="none" strike="noStrike">
              <a:solidFill>
                <a:srgbClr val="000000"/>
              </a:solidFill>
              <a:latin typeface="Sora"/>
              <a:ea typeface="Sora"/>
              <a:cs typeface="Sora"/>
              <a:sym typeface="Sora"/>
            </a:endParaRPr>
          </a:p>
          <a:p>
            <a:pPr indent="-222250" lvl="0" marL="2921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Sora"/>
              <a:buChar char="●"/>
            </a:pPr>
            <a:r>
              <a:rPr b="0" i="0" lang="pt-BR" sz="1100" u="none" cap="none" strike="noStrike">
                <a:solidFill>
                  <a:srgbClr val="000000"/>
                </a:solidFill>
                <a:latin typeface="Sora"/>
                <a:ea typeface="Sora"/>
                <a:cs typeface="Sora"/>
                <a:sym typeface="Sora"/>
              </a:rPr>
              <a:t>Não captura efeitos fora a variação  de concentração.</a:t>
            </a:r>
            <a:endParaRPr b="0" i="0" sz="1100" u="none" cap="none" strike="noStrike">
              <a:solidFill>
                <a:srgbClr val="000000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7" name="Google Shape;127;p24"/>
          <p:cNvSpPr/>
          <p:nvPr/>
        </p:nvSpPr>
        <p:spPr>
          <a:xfrm>
            <a:off x="614031" y="4016703"/>
            <a:ext cx="2416125" cy="21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Sora"/>
              <a:buNone/>
            </a:pPr>
            <a:r>
              <a:rPr b="0" i="0" lang="pt-BR" sz="11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J</a:t>
            </a:r>
            <a:r>
              <a:rPr b="0" i="0" lang="pt-BR" sz="10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i = fluxo difusivo da fase i  (kg/m²·s)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4"/>
          <p:cNvSpPr/>
          <p:nvPr/>
        </p:nvSpPr>
        <p:spPr>
          <a:xfrm>
            <a:off x="6028344" y="1686859"/>
            <a:ext cx="2641688" cy="3072938"/>
          </a:xfrm>
          <a:prstGeom prst="roundRect">
            <a:avLst>
              <a:gd fmla="val 2313" name="adj"/>
            </a:avLst>
          </a:prstGeom>
          <a:solidFill>
            <a:srgbClr val="D5DCF6"/>
          </a:solidFill>
          <a:ln cap="flat" cmpd="sng" w="9525">
            <a:solidFill>
              <a:srgbClr val="BBC2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4"/>
          <p:cNvSpPr/>
          <p:nvPr/>
        </p:nvSpPr>
        <p:spPr>
          <a:xfrm>
            <a:off x="6168401" y="1806699"/>
            <a:ext cx="1998375" cy="2225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Alexandria"/>
              <a:buNone/>
            </a:pPr>
            <a:r>
              <a:rPr b="1" i="0" lang="pt-BR" sz="1400" u="none" cap="none" strike="noStrike">
                <a:solidFill>
                  <a:srgbClr val="3B3535"/>
                </a:solidFill>
                <a:latin typeface="Alexandria"/>
                <a:ea typeface="Alexandria"/>
                <a:cs typeface="Alexandria"/>
                <a:sym typeface="Alexandria"/>
              </a:rPr>
              <a:t>Efeito multicomponente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4"/>
          <p:cNvSpPr txBox="1"/>
          <p:nvPr/>
        </p:nvSpPr>
        <p:spPr>
          <a:xfrm>
            <a:off x="6168406" y="2828141"/>
            <a:ext cx="2300400" cy="14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50" lIns="57150" spcFirstLastPara="1" rIns="57150" wrap="square" tIns="57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Sora"/>
              <a:ea typeface="Sora"/>
              <a:cs typeface="Sora"/>
              <a:sym typeface="Sora"/>
            </a:endParaRPr>
          </a:p>
          <a:p>
            <a:pPr indent="-222250" lvl="0" marL="292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Sora"/>
              <a:buChar char="●"/>
            </a:pPr>
            <a:r>
              <a:rPr b="0" i="0" lang="pt-BR" sz="1100" u="none" cap="none" strike="noStrike">
                <a:solidFill>
                  <a:srgbClr val="000000"/>
                </a:solidFill>
                <a:latin typeface="Sora"/>
                <a:ea typeface="Sora"/>
                <a:cs typeface="Sora"/>
                <a:sym typeface="Sora"/>
              </a:rPr>
              <a:t>Sistema mais complexo.</a:t>
            </a:r>
            <a:endParaRPr b="0" i="0" sz="1100" u="none" cap="none" strike="noStrike">
              <a:solidFill>
                <a:srgbClr val="000000"/>
              </a:solidFill>
              <a:latin typeface="Sora"/>
              <a:ea typeface="Sora"/>
              <a:cs typeface="Sora"/>
              <a:sym typeface="Sora"/>
            </a:endParaRPr>
          </a:p>
          <a:p>
            <a:pPr indent="-222250" lvl="0" marL="292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Sora"/>
              <a:buChar char="●"/>
            </a:pPr>
            <a:r>
              <a:rPr lang="pt-BR" sz="1100">
                <a:latin typeface="Sora"/>
                <a:ea typeface="Sora"/>
                <a:cs typeface="Sora"/>
                <a:sym typeface="Sora"/>
              </a:rPr>
              <a:t>D</a:t>
            </a:r>
            <a:r>
              <a:rPr b="0" i="0" lang="pt-BR" sz="1100" u="none" cap="none" strike="noStrike">
                <a:solidFill>
                  <a:srgbClr val="000000"/>
                </a:solidFill>
                <a:latin typeface="Sora"/>
                <a:ea typeface="Sora"/>
                <a:cs typeface="Sora"/>
                <a:sym typeface="Sora"/>
              </a:rPr>
              <a:t>eve considerar interações de todas as fases entre si.</a:t>
            </a:r>
            <a:endParaRPr b="0" i="0" sz="1100" u="none" cap="none" strike="noStrike">
              <a:solidFill>
                <a:srgbClr val="000000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131" name="Google Shape;131;p24" title="[59,53,53,&quot;https://www.codecogs.com/eqnedit.php?latex=%5Cfrac%7B%5Cpartial%20%5Crho_i%7D%7B%5Cpartial%20t%7D%20%2B%20%5Cnabla%20%5Ccdot%20%5Cmathbf%7BN%7D_i%20%3D%20R_i#0&quot;]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4976" y="2453448"/>
            <a:ext cx="1153558" cy="31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4" title="[0,0,0,&quot;https://www.codecogs.com/eqnedit.php?latex=%5Cmathbf%7BN%7D_i%20%3D%20%5Cmathbf%7BJ%7D_i%20%2B%20%5Crho_i%20%5Cmathbf%7Bv%7D#0&quot;]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58151" y="2948099"/>
            <a:ext cx="897999" cy="138087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4"/>
          <p:cNvSpPr/>
          <p:nvPr/>
        </p:nvSpPr>
        <p:spPr>
          <a:xfrm>
            <a:off x="8032800" y="4848250"/>
            <a:ext cx="1111200" cy="2166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4"/>
          <p:cNvSpPr/>
          <p:nvPr/>
        </p:nvSpPr>
        <p:spPr>
          <a:xfrm>
            <a:off x="8032800" y="4871550"/>
            <a:ext cx="1111200" cy="2166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5" name="Google Shape;135;p24" title="[0,0,0,&quot;https://www.codecogs.com/eqnedit.php?latex=%5Cmathbf%7BJ%7D_i%20%3D%20%7B-D%20%7D_%7Bij%7D%5Cnabla%20%5Crho_i#0&quot;]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97419" y="2460483"/>
            <a:ext cx="1349158" cy="22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/>
          <p:nvPr/>
        </p:nvSpPr>
        <p:spPr>
          <a:xfrm>
            <a:off x="473943" y="1102667"/>
            <a:ext cx="4767114" cy="890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2800"/>
              <a:buFont typeface="Alexandria"/>
              <a:buNone/>
            </a:pPr>
            <a:r>
              <a:rPr b="0" i="0" lang="pt-BR" sz="2800" u="none" cap="none" strike="noStrike">
                <a:solidFill>
                  <a:srgbClr val="1F1E1E"/>
                </a:solidFill>
                <a:latin typeface="Alexandria"/>
                <a:ea typeface="Alexandria"/>
                <a:cs typeface="Alexandria"/>
                <a:sym typeface="Alexandria"/>
              </a:rPr>
              <a:t>Desafios na Resolução Multicomponente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5"/>
          <p:cNvSpPr/>
          <p:nvPr/>
        </p:nvSpPr>
        <p:spPr>
          <a:xfrm>
            <a:off x="473943" y="2600654"/>
            <a:ext cx="304800" cy="304800"/>
          </a:xfrm>
          <a:prstGeom prst="roundRect">
            <a:avLst>
              <a:gd fmla="val 18669" name="adj"/>
            </a:avLst>
          </a:prstGeom>
          <a:solidFill>
            <a:srgbClr val="D5DCF6"/>
          </a:solidFill>
          <a:ln cap="flat" cmpd="sng" w="9525">
            <a:solidFill>
              <a:srgbClr val="BBC2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5"/>
          <p:cNvSpPr/>
          <p:nvPr/>
        </p:nvSpPr>
        <p:spPr>
          <a:xfrm>
            <a:off x="913954" y="2647163"/>
            <a:ext cx="18588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Alexandria"/>
              <a:buNone/>
            </a:pPr>
            <a:r>
              <a:rPr b="0" i="0" lang="pt-BR" sz="1400" u="none" cap="none" strike="noStrike">
                <a:solidFill>
                  <a:srgbClr val="3B3535"/>
                </a:solidFill>
                <a:latin typeface="Alexandria"/>
                <a:ea typeface="Alexandria"/>
                <a:cs typeface="Alexandria"/>
                <a:sym typeface="Alexandria"/>
              </a:rPr>
              <a:t>Fick e suas limitações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5"/>
          <p:cNvSpPr/>
          <p:nvPr/>
        </p:nvSpPr>
        <p:spPr>
          <a:xfrm>
            <a:off x="913954" y="3173642"/>
            <a:ext cx="18588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Sora"/>
              <a:buNone/>
            </a:pPr>
            <a:r>
              <a:rPr b="0" i="0" lang="pt-BR" sz="11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Coeficiente de difusão não capta todos os efeitos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5"/>
          <p:cNvSpPr/>
          <p:nvPr/>
        </p:nvSpPr>
        <p:spPr>
          <a:xfrm>
            <a:off x="2942109" y="2600654"/>
            <a:ext cx="304800" cy="304800"/>
          </a:xfrm>
          <a:prstGeom prst="roundRect">
            <a:avLst>
              <a:gd fmla="val 18669" name="adj"/>
            </a:avLst>
          </a:prstGeom>
          <a:solidFill>
            <a:srgbClr val="D5DCF6"/>
          </a:solidFill>
          <a:ln cap="flat" cmpd="sng" w="9525">
            <a:solidFill>
              <a:srgbClr val="BBC2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5"/>
          <p:cNvSpPr/>
          <p:nvPr/>
        </p:nvSpPr>
        <p:spPr>
          <a:xfrm>
            <a:off x="3382119" y="2647163"/>
            <a:ext cx="18588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Alexandria"/>
              <a:buNone/>
            </a:pPr>
            <a:r>
              <a:rPr b="0" i="0" lang="pt-BR" sz="1400" u="none" cap="none" strike="noStrike">
                <a:solidFill>
                  <a:srgbClr val="3B3535"/>
                </a:solidFill>
                <a:latin typeface="Alexandria"/>
                <a:ea typeface="Alexandria"/>
                <a:cs typeface="Alexandria"/>
                <a:sym typeface="Alexandria"/>
              </a:rPr>
              <a:t>Efeitos multicomponentes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5"/>
          <p:cNvSpPr/>
          <p:nvPr/>
        </p:nvSpPr>
        <p:spPr>
          <a:xfrm>
            <a:off x="3382119" y="3173642"/>
            <a:ext cx="18588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Sora"/>
              <a:buNone/>
            </a:pPr>
            <a:r>
              <a:rPr b="0" i="0" lang="pt-BR" sz="11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Interações entre fases influenciam o escoamento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5"/>
          <p:cNvSpPr/>
          <p:nvPr/>
        </p:nvSpPr>
        <p:spPr>
          <a:xfrm>
            <a:off x="473943" y="3877823"/>
            <a:ext cx="304800" cy="304800"/>
          </a:xfrm>
          <a:prstGeom prst="roundRect">
            <a:avLst>
              <a:gd fmla="val 18669" name="adj"/>
            </a:avLst>
          </a:prstGeom>
          <a:solidFill>
            <a:srgbClr val="D5DCF6"/>
          </a:solidFill>
          <a:ln cap="flat" cmpd="sng" w="9525">
            <a:solidFill>
              <a:srgbClr val="BBC2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5"/>
          <p:cNvSpPr/>
          <p:nvPr/>
        </p:nvSpPr>
        <p:spPr>
          <a:xfrm>
            <a:off x="913954" y="3924331"/>
            <a:ext cx="17817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Alexandria"/>
              <a:buNone/>
            </a:pPr>
            <a:r>
              <a:rPr b="0" i="0" lang="pt-BR" sz="1400" u="none" cap="none" strike="noStrike">
                <a:solidFill>
                  <a:srgbClr val="3B3535"/>
                </a:solidFill>
                <a:latin typeface="Alexandria"/>
                <a:ea typeface="Alexandria"/>
                <a:cs typeface="Alexandria"/>
                <a:sym typeface="Alexandria"/>
              </a:rPr>
              <a:t>Problemas comuns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5"/>
          <p:cNvSpPr/>
          <p:nvPr/>
        </p:nvSpPr>
        <p:spPr>
          <a:xfrm>
            <a:off x="913954" y="4228164"/>
            <a:ext cx="4327200" cy="2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Sora"/>
              <a:buNone/>
            </a:pPr>
            <a:r>
              <a:rPr b="0" i="0" lang="pt-BR" sz="11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Imprecisão no modelo ao ignorar acoplamentos reais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1" name="Google Shape;151;p25"/>
          <p:cNvCxnSpPr/>
          <p:nvPr/>
        </p:nvCxnSpPr>
        <p:spPr>
          <a:xfrm flipH="1" rot="10800000">
            <a:off x="5337750" y="2424228"/>
            <a:ext cx="668400" cy="4350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152" name="Google Shape;152;p25" title="[0,0,0,&quot;https://www.codecogs.com/eqnedit.php?latex=%5Cmathbf%7Bv%7D%20%3D%20%5Cfrac%7B1%7D%7B%5Crho%7D%20%5Csum_%7Bi%3D1%7D%5E%7Bn%7D%20%5Cmathbf%7BN%7D_i#0&quot;]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0950" y="1841400"/>
            <a:ext cx="1288400" cy="63712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5"/>
          <p:cNvSpPr/>
          <p:nvPr/>
        </p:nvSpPr>
        <p:spPr>
          <a:xfrm>
            <a:off x="8032800" y="4848250"/>
            <a:ext cx="1111200" cy="2166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5"/>
          <p:cNvSpPr/>
          <p:nvPr/>
        </p:nvSpPr>
        <p:spPr>
          <a:xfrm>
            <a:off x="8032800" y="4871550"/>
            <a:ext cx="1111200" cy="2166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/>
          <p:nvPr/>
        </p:nvSpPr>
        <p:spPr>
          <a:xfrm>
            <a:off x="473943" y="485998"/>
            <a:ext cx="6055221" cy="445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2800"/>
              <a:buFont typeface="Alexandria"/>
              <a:buNone/>
            </a:pPr>
            <a:r>
              <a:rPr b="0" i="0" lang="pt-BR" sz="2800" u="none" cap="none" strike="noStrike">
                <a:solidFill>
                  <a:srgbClr val="1F1E1E"/>
                </a:solidFill>
                <a:latin typeface="Alexandria"/>
                <a:ea typeface="Alexandria"/>
                <a:cs typeface="Alexandria"/>
                <a:sym typeface="Alexandria"/>
              </a:rPr>
              <a:t>Formulação Tradicional Separada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6"/>
          <p:cNvSpPr/>
          <p:nvPr/>
        </p:nvSpPr>
        <p:spPr>
          <a:xfrm>
            <a:off x="473943" y="1269876"/>
            <a:ext cx="2449413" cy="222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1400"/>
              <a:buFont typeface="Alexandria"/>
              <a:buNone/>
            </a:pPr>
            <a:r>
              <a:rPr b="0" i="0" lang="pt-BR" sz="1400" u="none" cap="none" strike="noStrike">
                <a:solidFill>
                  <a:srgbClr val="1F1E1E"/>
                </a:solidFill>
                <a:latin typeface="Alexandria"/>
                <a:ea typeface="Alexandria"/>
                <a:cs typeface="Alexandria"/>
                <a:sym typeface="Alexandria"/>
              </a:rPr>
              <a:t>Escoamento independente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6"/>
          <p:cNvSpPr/>
          <p:nvPr/>
        </p:nvSpPr>
        <p:spPr>
          <a:xfrm>
            <a:off x="473943" y="1627882"/>
            <a:ext cx="3932858" cy="433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Sora"/>
              <a:buNone/>
            </a:pPr>
            <a:r>
              <a:rPr b="0" i="0" lang="pt-BR" sz="11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Velocidade calculada separadamente do transporte das espécies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6"/>
          <p:cNvSpPr/>
          <p:nvPr/>
        </p:nvSpPr>
        <p:spPr>
          <a:xfrm>
            <a:off x="4741962" y="1269876"/>
            <a:ext cx="2325365" cy="222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1400"/>
              <a:buFont typeface="Alexandria"/>
              <a:buNone/>
            </a:pPr>
            <a:r>
              <a:rPr b="0" i="0" lang="pt-BR" sz="1400" u="none" cap="none" strike="noStrike">
                <a:solidFill>
                  <a:srgbClr val="1F1E1E"/>
                </a:solidFill>
                <a:latin typeface="Alexandria"/>
                <a:ea typeface="Alexandria"/>
                <a:cs typeface="Alexandria"/>
                <a:sym typeface="Alexandria"/>
              </a:rPr>
              <a:t>Independência dos fluxos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6"/>
          <p:cNvSpPr/>
          <p:nvPr/>
        </p:nvSpPr>
        <p:spPr>
          <a:xfrm>
            <a:off x="4741962" y="1627882"/>
            <a:ext cx="3932858" cy="2166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Sora"/>
              <a:buNone/>
            </a:pPr>
            <a:r>
              <a:rPr b="0" i="0" lang="pt-BR" sz="11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Fluxo de cada espécie não influencia o escoamento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p26" title="[0,0,0,&quot;https://www.codecogs.com/eqnedit.php?latex=%5Cmathbf%7BN%7D_i%20%3D%20%5Cmathbf%7BJ%7D_i%20%2B%20%5Crho_i%20%5Cmathbf%7Bv%7D#0&quot;]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4186" y="3250114"/>
            <a:ext cx="1737955" cy="26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6"/>
          <p:cNvSpPr/>
          <p:nvPr/>
        </p:nvSpPr>
        <p:spPr>
          <a:xfrm>
            <a:off x="2600088" y="3250075"/>
            <a:ext cx="279600" cy="2673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7" name="Google Shape;167;p26"/>
          <p:cNvCxnSpPr/>
          <p:nvPr/>
        </p:nvCxnSpPr>
        <p:spPr>
          <a:xfrm>
            <a:off x="1803976" y="1992201"/>
            <a:ext cx="814500" cy="1131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8" name="Google Shape;168;p26"/>
          <p:cNvCxnSpPr>
            <a:endCxn id="169" idx="0"/>
          </p:cNvCxnSpPr>
          <p:nvPr/>
        </p:nvCxnSpPr>
        <p:spPr>
          <a:xfrm flipH="1">
            <a:off x="6627475" y="2012438"/>
            <a:ext cx="15600" cy="1063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9" name="Google Shape;169;p26"/>
          <p:cNvSpPr txBox="1"/>
          <p:nvPr/>
        </p:nvSpPr>
        <p:spPr>
          <a:xfrm>
            <a:off x="5446525" y="3075938"/>
            <a:ext cx="2361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F0000"/>
                </a:solidFill>
                <a:latin typeface="Sora"/>
                <a:ea typeface="Sora"/>
                <a:cs typeface="Sora"/>
                <a:sym typeface="Sora"/>
              </a:rPr>
              <a:t>Não é compatível com a realidade</a:t>
            </a:r>
            <a:endParaRPr>
              <a:solidFill>
                <a:srgbClr val="FF0000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0" name="Google Shape;170;p26"/>
          <p:cNvSpPr/>
          <p:nvPr/>
        </p:nvSpPr>
        <p:spPr>
          <a:xfrm>
            <a:off x="8032800" y="4848250"/>
            <a:ext cx="1111200" cy="2166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6"/>
          <p:cNvSpPr/>
          <p:nvPr/>
        </p:nvSpPr>
        <p:spPr>
          <a:xfrm>
            <a:off x="8032800" y="4871550"/>
            <a:ext cx="1111200" cy="2166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/>
          <p:nvPr/>
        </p:nvSpPr>
        <p:spPr>
          <a:xfrm>
            <a:off x="473943" y="708347"/>
            <a:ext cx="4767114" cy="890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2800"/>
              <a:buFont typeface="Alexandria"/>
              <a:buNone/>
            </a:pPr>
            <a:r>
              <a:rPr b="0" i="0" lang="pt-BR" sz="2800" u="none" cap="none" strike="noStrike">
                <a:solidFill>
                  <a:srgbClr val="1F1E1E"/>
                </a:solidFill>
                <a:latin typeface="Alexandria"/>
                <a:ea typeface="Alexandria"/>
                <a:cs typeface="Alexandria"/>
                <a:sym typeface="Alexandria"/>
              </a:rPr>
              <a:t>Formulação Acoplada na Transferência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78" name="Google Shape;17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943" y="1802309"/>
            <a:ext cx="677019" cy="1007939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7"/>
          <p:cNvSpPr/>
          <p:nvPr/>
        </p:nvSpPr>
        <p:spPr>
          <a:xfrm>
            <a:off x="1354038" y="1937668"/>
            <a:ext cx="2189857" cy="222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Alexandria"/>
              <a:buNone/>
            </a:pPr>
            <a:r>
              <a:rPr b="0" i="0" lang="pt-BR" sz="1400" u="none" cap="none" strike="noStrike">
                <a:solidFill>
                  <a:srgbClr val="3B3535"/>
                </a:solidFill>
                <a:latin typeface="Alexandria"/>
                <a:ea typeface="Alexandria"/>
                <a:cs typeface="Alexandria"/>
                <a:sym typeface="Alexandria"/>
              </a:rPr>
              <a:t>Acoplamento dos fluxos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7"/>
          <p:cNvSpPr/>
          <p:nvPr/>
        </p:nvSpPr>
        <p:spPr>
          <a:xfrm>
            <a:off x="1354038" y="2241501"/>
            <a:ext cx="3887019" cy="4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Sora"/>
              <a:buNone/>
            </a:pPr>
            <a:r>
              <a:rPr b="0" i="0" lang="pt-BR" sz="11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Fluxos calculados juntos, sem usar diretamente a velocidade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81" name="Google Shape;18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3943" y="2810247"/>
            <a:ext cx="677019" cy="812453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7"/>
          <p:cNvSpPr/>
          <p:nvPr/>
        </p:nvSpPr>
        <p:spPr>
          <a:xfrm>
            <a:off x="1354038" y="2945606"/>
            <a:ext cx="1781696" cy="222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Alexandria"/>
              <a:buNone/>
            </a:pPr>
            <a:r>
              <a:rPr b="0" i="0" lang="pt-BR" sz="1400" u="none" cap="none" strike="noStrike">
                <a:solidFill>
                  <a:srgbClr val="3B3535"/>
                </a:solidFill>
                <a:latin typeface="Alexandria"/>
                <a:ea typeface="Alexandria"/>
                <a:cs typeface="Alexandria"/>
                <a:sym typeface="Alexandria"/>
              </a:rPr>
              <a:t>Expressão do fluxo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7"/>
          <p:cNvSpPr/>
          <p:nvPr/>
        </p:nvSpPr>
        <p:spPr>
          <a:xfrm>
            <a:off x="1354038" y="3249439"/>
            <a:ext cx="3887019" cy="2166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Sora"/>
              <a:buNone/>
            </a:pPr>
            <a:r>
              <a:rPr b="0" i="0" lang="pt-BR" sz="11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Incorpora influência total no fluxo de cada espécie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84" name="Google Shape;184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3943" y="3622700"/>
            <a:ext cx="677019" cy="812453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7"/>
          <p:cNvSpPr/>
          <p:nvPr/>
        </p:nvSpPr>
        <p:spPr>
          <a:xfrm>
            <a:off x="1354038" y="3758059"/>
            <a:ext cx="1781696" cy="222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Alexandria"/>
              <a:buNone/>
            </a:pPr>
            <a:r>
              <a:rPr b="0" i="0" lang="pt-BR" sz="1400" u="none" cap="none" strike="noStrike">
                <a:solidFill>
                  <a:srgbClr val="3B3535"/>
                </a:solidFill>
                <a:latin typeface="Alexandria"/>
                <a:ea typeface="Alexandria"/>
                <a:cs typeface="Alexandria"/>
                <a:sym typeface="Alexandria"/>
              </a:rPr>
              <a:t>Solução do sistema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7"/>
          <p:cNvSpPr/>
          <p:nvPr/>
        </p:nvSpPr>
        <p:spPr>
          <a:xfrm>
            <a:off x="1354038" y="4061892"/>
            <a:ext cx="3887019" cy="2166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Sora"/>
              <a:buNone/>
            </a:pPr>
            <a:r>
              <a:rPr b="0" i="0" lang="pt-BR" sz="11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Métodos numéricos integrados para solução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p27" title="[0,0,0,&quot;https://www.codecogs.com/eqnedit.php?latex=%5Cmathbf%7BN%7D_i%20%3D%20%5Cmathbf%7BJ%7D_i%20%2B%20w_i%20%5Csum_%7Bk%3D1%7D%5E%7Bn%7D%20%5Cmathbf%7BN%7D_k#0&quot;]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93425" y="1763238"/>
            <a:ext cx="1781674" cy="57152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7"/>
          <p:cNvSpPr/>
          <p:nvPr/>
        </p:nvSpPr>
        <p:spPr>
          <a:xfrm>
            <a:off x="8032800" y="4848250"/>
            <a:ext cx="1111200" cy="2166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7"/>
          <p:cNvSpPr/>
          <p:nvPr/>
        </p:nvSpPr>
        <p:spPr>
          <a:xfrm>
            <a:off x="8032800" y="4871550"/>
            <a:ext cx="1111200" cy="2166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0" name="Google Shape;190;p27" title="[0,0,0,&quot;http://www.texrendr.com/?eqn=%5Cnabla%20%5Ccdot%20%5Cbegin%7Bpmatrix%7D%0A%20%20%20%20%5Crho%20%5Cmathbf%7Bv%7D%20%5C%5C%0A%20%20%20%20%5Cmathbf%7BN%7D_a%20%5C%5C%0A%20%20%20%20%5Cmathbf%7BN%7D_b%20%5C%5C%0A%20%20%20%20%5Cvdots%20%5C%5C%0A%20%20%20%20%5Cmathbf%7BN%7D_%7Bn-1%7D%0A%5Cend%7Bpmatrix%7D%20%3D%20%5Cmathbf%7B0%7D%0A#0&quot;]"/>
          <p:cNvPicPr preferRelativeResize="0"/>
          <p:nvPr/>
        </p:nvPicPr>
        <p:blipFill rotWithShape="1">
          <a:blip r:embed="rId7">
            <a:alphaModFix/>
          </a:blip>
          <a:srcRect b="0" l="42116" r="0" t="0"/>
          <a:stretch/>
        </p:blipFill>
        <p:spPr>
          <a:xfrm>
            <a:off x="6440079" y="3007725"/>
            <a:ext cx="1635025" cy="97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8"/>
          <p:cNvSpPr/>
          <p:nvPr/>
        </p:nvSpPr>
        <p:spPr>
          <a:xfrm>
            <a:off x="473943" y="1066205"/>
            <a:ext cx="6509147" cy="445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2800"/>
              <a:buFont typeface="Alexandria"/>
              <a:buNone/>
            </a:pPr>
            <a:r>
              <a:rPr b="0" i="0" lang="pt-BR" sz="2800" u="none" cap="none" strike="noStrike">
                <a:solidFill>
                  <a:srgbClr val="1F1E1E"/>
                </a:solidFill>
                <a:latin typeface="Alexandria"/>
                <a:ea typeface="Alexandria"/>
                <a:cs typeface="Alexandria"/>
                <a:sym typeface="Alexandria"/>
              </a:rPr>
              <a:t>Vantagens da Formulação Acoplada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8"/>
          <p:cNvSpPr/>
          <p:nvPr/>
        </p:nvSpPr>
        <p:spPr>
          <a:xfrm>
            <a:off x="1372046" y="2561258"/>
            <a:ext cx="1781696" cy="222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Alexandria"/>
              <a:buNone/>
            </a:pPr>
            <a:r>
              <a:rPr b="0" i="0" lang="pt-BR" sz="1400" u="none" cap="none" strike="noStrike">
                <a:solidFill>
                  <a:srgbClr val="3B3535"/>
                </a:solidFill>
                <a:latin typeface="Alexandria"/>
                <a:ea typeface="Alexandria"/>
                <a:cs typeface="Alexandria"/>
                <a:sym typeface="Alexandria"/>
              </a:rPr>
              <a:t>Feedback direto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8"/>
          <p:cNvSpPr/>
          <p:nvPr/>
        </p:nvSpPr>
        <p:spPr>
          <a:xfrm>
            <a:off x="473943" y="2865090"/>
            <a:ext cx="2679799" cy="4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Sora"/>
              <a:buNone/>
            </a:pPr>
            <a:r>
              <a:rPr b="0" i="0" lang="pt-BR" sz="11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Fluxo das espécies influencia diretamente o escoamento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99" name="Google Shape;19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4535" y="1782440"/>
            <a:ext cx="2294855" cy="229485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8"/>
          <p:cNvSpPr/>
          <p:nvPr/>
        </p:nvSpPr>
        <p:spPr>
          <a:xfrm>
            <a:off x="3298292" y="2760576"/>
            <a:ext cx="338509" cy="338509"/>
          </a:xfrm>
          <a:prstGeom prst="roundRect">
            <a:avLst>
              <a:gd fmla="val 1686596" name="adj"/>
            </a:avLst>
          </a:prstGeom>
          <a:solidFill>
            <a:srgbClr val="D5DCF6"/>
          </a:solidFill>
          <a:ln cap="flat" cmpd="sng" w="9525">
            <a:solidFill>
              <a:srgbClr val="BBC2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8"/>
          <p:cNvSpPr/>
          <p:nvPr/>
        </p:nvSpPr>
        <p:spPr>
          <a:xfrm>
            <a:off x="3391384" y="2834618"/>
            <a:ext cx="152326" cy="1904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200"/>
              <a:buFont typeface="Alexandria"/>
              <a:buNone/>
            </a:pPr>
            <a:r>
              <a:rPr b="0" i="0" lang="pt-BR" sz="1200" u="none" cap="none" strike="noStrike">
                <a:solidFill>
                  <a:srgbClr val="3B3535"/>
                </a:solidFill>
                <a:latin typeface="Alexandria"/>
                <a:ea typeface="Alexandria"/>
                <a:cs typeface="Alexandria"/>
                <a:sym typeface="Alexandria"/>
              </a:rPr>
              <a:t>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8"/>
          <p:cNvSpPr/>
          <p:nvPr/>
        </p:nvSpPr>
        <p:spPr>
          <a:xfrm>
            <a:off x="5922466" y="1936775"/>
            <a:ext cx="1951806" cy="222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Alexandria"/>
              <a:buNone/>
            </a:pPr>
            <a:r>
              <a:rPr b="0" i="0" lang="pt-BR" sz="1400" u="none" cap="none" strike="noStrike">
                <a:solidFill>
                  <a:srgbClr val="3B3535"/>
                </a:solidFill>
                <a:latin typeface="Alexandria"/>
                <a:ea typeface="Alexandria"/>
                <a:cs typeface="Alexandria"/>
                <a:sym typeface="Alexandria"/>
              </a:rPr>
              <a:t>Realismo aprimorado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8"/>
          <p:cNvSpPr/>
          <p:nvPr/>
        </p:nvSpPr>
        <p:spPr>
          <a:xfrm>
            <a:off x="5922466" y="2240608"/>
            <a:ext cx="2747591" cy="4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Sora"/>
              <a:buNone/>
            </a:pPr>
            <a:r>
              <a:rPr b="0" i="0" lang="pt-BR" sz="11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Efeitos multicomponente mais próximos da realidade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04" name="Google Shape;20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4535" y="1782440"/>
            <a:ext cx="2294855" cy="229485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8"/>
          <p:cNvSpPr/>
          <p:nvPr/>
        </p:nvSpPr>
        <p:spPr>
          <a:xfrm>
            <a:off x="4954898" y="1804132"/>
            <a:ext cx="338509" cy="338509"/>
          </a:xfrm>
          <a:prstGeom prst="roundRect">
            <a:avLst>
              <a:gd fmla="val 1686596" name="adj"/>
            </a:avLst>
          </a:prstGeom>
          <a:solidFill>
            <a:srgbClr val="D5DCF6"/>
          </a:solidFill>
          <a:ln cap="flat" cmpd="sng" w="9525">
            <a:solidFill>
              <a:srgbClr val="BBC2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8"/>
          <p:cNvSpPr/>
          <p:nvPr/>
        </p:nvSpPr>
        <p:spPr>
          <a:xfrm>
            <a:off x="5047989" y="1878174"/>
            <a:ext cx="152326" cy="1904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200"/>
              <a:buFont typeface="Alexandria"/>
              <a:buNone/>
            </a:pPr>
            <a:r>
              <a:rPr b="0" i="0" lang="pt-BR" sz="1200" u="none" cap="none" strike="noStrike">
                <a:solidFill>
                  <a:srgbClr val="3B3535"/>
                </a:solidFill>
                <a:latin typeface="Alexandria"/>
                <a:ea typeface="Alexandria"/>
                <a:cs typeface="Alexandria"/>
                <a:sym typeface="Alexandria"/>
              </a:rPr>
              <a:t>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8"/>
          <p:cNvSpPr/>
          <p:nvPr/>
        </p:nvSpPr>
        <p:spPr>
          <a:xfrm>
            <a:off x="5922466" y="3185741"/>
            <a:ext cx="1781696" cy="222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Alexandria"/>
              <a:buNone/>
            </a:pPr>
            <a:r>
              <a:rPr b="0" i="0" lang="pt-BR" sz="1400" u="none" cap="none" strike="noStrike">
                <a:solidFill>
                  <a:srgbClr val="3B3535"/>
                </a:solidFill>
                <a:latin typeface="Alexandria"/>
                <a:ea typeface="Alexandria"/>
                <a:cs typeface="Alexandria"/>
                <a:sym typeface="Alexandria"/>
              </a:rPr>
              <a:t>Precisão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8"/>
          <p:cNvSpPr/>
          <p:nvPr/>
        </p:nvSpPr>
        <p:spPr>
          <a:xfrm>
            <a:off x="5922466" y="3489573"/>
            <a:ext cx="2747591" cy="4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Sora"/>
              <a:buNone/>
            </a:pPr>
            <a:r>
              <a:rPr b="0" i="0" lang="pt-BR" sz="11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Modelagem mais fiel aos processos físicos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09" name="Google Shape;209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4535" y="1782440"/>
            <a:ext cx="2294855" cy="229485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8"/>
          <p:cNvSpPr/>
          <p:nvPr/>
        </p:nvSpPr>
        <p:spPr>
          <a:xfrm>
            <a:off x="4954898" y="3717019"/>
            <a:ext cx="338509" cy="338509"/>
          </a:xfrm>
          <a:prstGeom prst="roundRect">
            <a:avLst>
              <a:gd fmla="val 1686596" name="adj"/>
            </a:avLst>
          </a:prstGeom>
          <a:solidFill>
            <a:srgbClr val="D5DCF6"/>
          </a:solidFill>
          <a:ln cap="flat" cmpd="sng" w="9525">
            <a:solidFill>
              <a:srgbClr val="BBC2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8"/>
          <p:cNvSpPr/>
          <p:nvPr/>
        </p:nvSpPr>
        <p:spPr>
          <a:xfrm>
            <a:off x="5047989" y="3791062"/>
            <a:ext cx="152326" cy="1904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200"/>
              <a:buFont typeface="Alexandria"/>
              <a:buNone/>
            </a:pPr>
            <a:r>
              <a:rPr b="0" i="0" lang="pt-BR" sz="1200" u="none" cap="none" strike="noStrike">
                <a:solidFill>
                  <a:srgbClr val="3B3535"/>
                </a:solidFill>
                <a:latin typeface="Alexandria"/>
                <a:ea typeface="Alexandria"/>
                <a:cs typeface="Alexandria"/>
                <a:sym typeface="Alexandria"/>
              </a:rPr>
              <a:t>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8"/>
          <p:cNvSpPr/>
          <p:nvPr/>
        </p:nvSpPr>
        <p:spPr>
          <a:xfrm>
            <a:off x="8032800" y="4848250"/>
            <a:ext cx="1111200" cy="2166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8"/>
          <p:cNvSpPr/>
          <p:nvPr/>
        </p:nvSpPr>
        <p:spPr>
          <a:xfrm>
            <a:off x="8032800" y="4871550"/>
            <a:ext cx="1111200" cy="2166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9"/>
          <p:cNvSpPr/>
          <p:nvPr/>
        </p:nvSpPr>
        <p:spPr>
          <a:xfrm>
            <a:off x="473943" y="1105644"/>
            <a:ext cx="4767114" cy="890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2800"/>
              <a:buFont typeface="Alexandria"/>
              <a:buNone/>
            </a:pPr>
            <a:r>
              <a:rPr b="0" i="0" lang="pt-BR" sz="2800" u="none" cap="none" strike="noStrike">
                <a:solidFill>
                  <a:srgbClr val="1F1E1E"/>
                </a:solidFill>
                <a:latin typeface="Alexandria"/>
                <a:ea typeface="Alexandria"/>
                <a:cs typeface="Alexandria"/>
                <a:sym typeface="Alexandria"/>
              </a:rPr>
              <a:t>Conclusões e Novas Perspectivas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9"/>
          <p:cNvSpPr/>
          <p:nvPr/>
        </p:nvSpPr>
        <p:spPr>
          <a:xfrm>
            <a:off x="473943" y="2525930"/>
            <a:ext cx="304800" cy="304800"/>
          </a:xfrm>
          <a:prstGeom prst="roundRect">
            <a:avLst>
              <a:gd fmla="val 18669" name="adj"/>
            </a:avLst>
          </a:prstGeom>
          <a:solidFill>
            <a:srgbClr val="D5DCF6"/>
          </a:solidFill>
          <a:ln cap="flat" cmpd="sng" w="9525">
            <a:solidFill>
              <a:srgbClr val="BBC2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9"/>
          <p:cNvSpPr/>
          <p:nvPr/>
        </p:nvSpPr>
        <p:spPr>
          <a:xfrm>
            <a:off x="913954" y="2572439"/>
            <a:ext cx="17817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Alexandria"/>
              <a:buNone/>
            </a:pPr>
            <a:r>
              <a:rPr b="0" i="0" lang="pt-BR" sz="1400" u="none" cap="none" strike="noStrike">
                <a:solidFill>
                  <a:srgbClr val="3B3535"/>
                </a:solidFill>
                <a:latin typeface="Alexandria"/>
                <a:ea typeface="Alexandria"/>
                <a:cs typeface="Alexandria"/>
                <a:sym typeface="Alexandria"/>
              </a:rPr>
              <a:t>Originalidade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9"/>
          <p:cNvSpPr/>
          <p:nvPr/>
        </p:nvSpPr>
        <p:spPr>
          <a:xfrm>
            <a:off x="913954" y="2876272"/>
            <a:ext cx="18588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Sora"/>
              <a:buNone/>
            </a:pPr>
            <a:r>
              <a:rPr b="0" i="0" lang="pt-BR" sz="11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Proposta não encontrada na literatura atual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9"/>
          <p:cNvSpPr/>
          <p:nvPr/>
        </p:nvSpPr>
        <p:spPr>
          <a:xfrm>
            <a:off x="2942109" y="2525930"/>
            <a:ext cx="304800" cy="304800"/>
          </a:xfrm>
          <a:prstGeom prst="roundRect">
            <a:avLst>
              <a:gd fmla="val 18669" name="adj"/>
            </a:avLst>
          </a:prstGeom>
          <a:solidFill>
            <a:srgbClr val="D5DCF6"/>
          </a:solidFill>
          <a:ln cap="flat" cmpd="sng" w="9525">
            <a:solidFill>
              <a:srgbClr val="BBC2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9"/>
          <p:cNvSpPr/>
          <p:nvPr/>
        </p:nvSpPr>
        <p:spPr>
          <a:xfrm>
            <a:off x="3382119" y="2572439"/>
            <a:ext cx="17817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Alexandria"/>
              <a:buNone/>
            </a:pPr>
            <a:r>
              <a:rPr b="0" i="0" lang="pt-BR" sz="1400" u="none" cap="none" strike="noStrike">
                <a:solidFill>
                  <a:srgbClr val="3B3535"/>
                </a:solidFill>
                <a:latin typeface="Alexandria"/>
                <a:ea typeface="Alexandria"/>
                <a:cs typeface="Alexandria"/>
                <a:sym typeface="Alexandria"/>
              </a:rPr>
              <a:t>Captura de efeitos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9"/>
          <p:cNvSpPr/>
          <p:nvPr/>
        </p:nvSpPr>
        <p:spPr>
          <a:xfrm>
            <a:off x="3382119" y="2876272"/>
            <a:ext cx="18588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Sora"/>
              <a:buNone/>
            </a:pPr>
            <a:r>
              <a:rPr b="0" i="0" lang="pt-BR" sz="11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Melhor representação dos efeitos multicomponentes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9"/>
          <p:cNvSpPr/>
          <p:nvPr/>
        </p:nvSpPr>
        <p:spPr>
          <a:xfrm>
            <a:off x="473943" y="3580452"/>
            <a:ext cx="304800" cy="304800"/>
          </a:xfrm>
          <a:prstGeom prst="roundRect">
            <a:avLst>
              <a:gd fmla="val 18669" name="adj"/>
            </a:avLst>
          </a:prstGeom>
          <a:solidFill>
            <a:srgbClr val="D5DCF6"/>
          </a:solidFill>
          <a:ln cap="flat" cmpd="sng" w="9525">
            <a:solidFill>
              <a:srgbClr val="BBC2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9"/>
          <p:cNvSpPr/>
          <p:nvPr/>
        </p:nvSpPr>
        <p:spPr>
          <a:xfrm>
            <a:off x="913954" y="3626961"/>
            <a:ext cx="20334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00"/>
              <a:buFont typeface="Alexandria"/>
              <a:buNone/>
            </a:pPr>
            <a:r>
              <a:rPr b="0" i="0" lang="pt-BR" sz="1400" u="none" cap="none" strike="noStrike">
                <a:solidFill>
                  <a:srgbClr val="3B3535"/>
                </a:solidFill>
                <a:latin typeface="Alexandria"/>
                <a:ea typeface="Alexandria"/>
                <a:cs typeface="Alexandria"/>
                <a:sym typeface="Alexandria"/>
              </a:rPr>
              <a:t>Potencial de aplicação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9"/>
          <p:cNvSpPr/>
          <p:nvPr/>
        </p:nvSpPr>
        <p:spPr>
          <a:xfrm>
            <a:off x="913954" y="3930793"/>
            <a:ext cx="4327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00"/>
              <a:buFont typeface="Sora"/>
              <a:buNone/>
            </a:pPr>
            <a:r>
              <a:rPr b="0" i="0" lang="pt-BR" sz="1100" u="none" cap="none" strike="noStrike">
                <a:solidFill>
                  <a:srgbClr val="3B3535"/>
                </a:solidFill>
                <a:latin typeface="Sora"/>
                <a:ea typeface="Sora"/>
                <a:cs typeface="Sora"/>
                <a:sym typeface="Sora"/>
              </a:rPr>
              <a:t>Avanço significativo para modelagem em transferência de massa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9"/>
          <p:cNvSpPr/>
          <p:nvPr/>
        </p:nvSpPr>
        <p:spPr>
          <a:xfrm>
            <a:off x="8032800" y="4848250"/>
            <a:ext cx="1111200" cy="2166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9"/>
          <p:cNvSpPr/>
          <p:nvPr/>
        </p:nvSpPr>
        <p:spPr>
          <a:xfrm>
            <a:off x="8032800" y="4871550"/>
            <a:ext cx="1111200" cy="2166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/>
          <p:cNvSpPr/>
          <p:nvPr/>
        </p:nvSpPr>
        <p:spPr>
          <a:xfrm>
            <a:off x="497250" y="1105648"/>
            <a:ext cx="47670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2800"/>
              <a:buFont typeface="Alexandria"/>
              <a:buNone/>
            </a:pPr>
            <a:r>
              <a:rPr lang="pt-BR" sz="2800">
                <a:solidFill>
                  <a:srgbClr val="1F1E1E"/>
                </a:solidFill>
                <a:latin typeface="Alexandria"/>
                <a:ea typeface="Alexandria"/>
                <a:cs typeface="Alexandria"/>
                <a:sym typeface="Alexandria"/>
              </a:rPr>
              <a:t>Disciplinas cursadas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30"/>
          <p:cNvSpPr/>
          <p:nvPr/>
        </p:nvSpPr>
        <p:spPr>
          <a:xfrm>
            <a:off x="8032800" y="4848250"/>
            <a:ext cx="1111200" cy="2166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30"/>
          <p:cNvSpPr/>
          <p:nvPr/>
        </p:nvSpPr>
        <p:spPr>
          <a:xfrm>
            <a:off x="8032800" y="4871550"/>
            <a:ext cx="1111200" cy="2166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30"/>
          <p:cNvSpPr txBox="1"/>
          <p:nvPr/>
        </p:nvSpPr>
        <p:spPr>
          <a:xfrm>
            <a:off x="380725" y="1693750"/>
            <a:ext cx="67752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Sora"/>
                <a:ea typeface="Sora"/>
                <a:cs typeface="Sora"/>
                <a:sym typeface="Sora"/>
              </a:rPr>
              <a:t>EQE790 - Anal Dados Proc Tempo Real</a:t>
            </a:r>
            <a:endParaRPr sz="1700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Sora"/>
                <a:ea typeface="Sora"/>
                <a:cs typeface="Sora"/>
                <a:sym typeface="Sora"/>
              </a:rPr>
              <a:t>EQE718 - Fenômenos de Transporte Avançado</a:t>
            </a:r>
            <a:endParaRPr sz="1700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Sora"/>
                <a:ea typeface="Sora"/>
                <a:cs typeface="Sora"/>
                <a:sym typeface="Sora"/>
              </a:rPr>
              <a:t>EQE703 - Met. Mat. Aplicados</a:t>
            </a:r>
            <a:endParaRPr sz="1700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Sora"/>
                <a:ea typeface="Sora"/>
                <a:cs typeface="Sora"/>
                <a:sym typeface="Sora"/>
              </a:rPr>
              <a:t>EQE707 - Metodologia Científica</a:t>
            </a:r>
            <a:endParaRPr sz="1700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Sora"/>
                <a:ea typeface="Sora"/>
                <a:cs typeface="Sora"/>
                <a:sym typeface="Sora"/>
              </a:rPr>
              <a:t>COQ743 - Introdução a Processos Multifásicos</a:t>
            </a:r>
            <a:endParaRPr sz="1700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Sora"/>
                <a:ea typeface="Sora"/>
                <a:cs typeface="Sora"/>
                <a:sym typeface="Sora"/>
              </a:rPr>
              <a:t>EQE855 - Otimização de Processos</a:t>
            </a:r>
            <a:endParaRPr sz="1700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Sora"/>
                <a:ea typeface="Sora"/>
                <a:cs typeface="Sora"/>
                <a:sym typeface="Sora"/>
              </a:rPr>
              <a:t>EQE798 - Desenv. Num. Apl. Fluidodinâmica Computacional</a:t>
            </a:r>
            <a:endParaRPr sz="1700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Sora"/>
                <a:ea typeface="Sora"/>
                <a:cs typeface="Sora"/>
                <a:sym typeface="Sora"/>
              </a:rPr>
              <a:t>EQE776 - Modelagem e Simulação de </a:t>
            </a:r>
            <a:r>
              <a:rPr lang="pt-BR" sz="1700">
                <a:latin typeface="Sora"/>
                <a:ea typeface="Sora"/>
                <a:cs typeface="Sora"/>
                <a:sym typeface="Sora"/>
              </a:rPr>
              <a:t>Processos</a:t>
            </a:r>
            <a:endParaRPr sz="1700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Sora"/>
                <a:ea typeface="Sora"/>
                <a:cs typeface="Sora"/>
                <a:sym typeface="Sora"/>
              </a:rPr>
              <a:t>EQI750 - Análise Térmica Mat. e Processos</a:t>
            </a:r>
            <a:endParaRPr sz="1700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Sora"/>
                <a:ea typeface="Sora"/>
                <a:cs typeface="Sora"/>
                <a:sym typeface="Sora"/>
              </a:rPr>
              <a:t>EQE704 - Fluidodinâmica Computacional</a:t>
            </a:r>
            <a:endParaRPr sz="1700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1"/>
          <p:cNvSpPr/>
          <p:nvPr/>
        </p:nvSpPr>
        <p:spPr>
          <a:xfrm>
            <a:off x="512200" y="724373"/>
            <a:ext cx="47670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2800"/>
              <a:buFont typeface="Alexandria"/>
              <a:buNone/>
            </a:pPr>
            <a:r>
              <a:rPr lang="pt-BR" sz="2800">
                <a:solidFill>
                  <a:srgbClr val="1F1E1E"/>
                </a:solidFill>
                <a:latin typeface="Alexandria"/>
                <a:ea typeface="Alexandria"/>
                <a:cs typeface="Alexandria"/>
                <a:sym typeface="Alexandria"/>
              </a:rPr>
              <a:t>Cronograma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31"/>
          <p:cNvSpPr/>
          <p:nvPr/>
        </p:nvSpPr>
        <p:spPr>
          <a:xfrm>
            <a:off x="8032800" y="4848250"/>
            <a:ext cx="1111200" cy="2166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1"/>
          <p:cNvSpPr/>
          <p:nvPr/>
        </p:nvSpPr>
        <p:spPr>
          <a:xfrm>
            <a:off x="8032800" y="4871550"/>
            <a:ext cx="1111200" cy="2166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48" name="Google Shape;248;p31"/>
          <p:cNvGraphicFramePr/>
          <p:nvPr/>
        </p:nvGraphicFramePr>
        <p:xfrm>
          <a:off x="578700" y="138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{A732F6A3-8A15-4852-9837-306AEC36C8DE}</a:tableStyleId>
              </a:tblPr>
              <a:tblGrid>
                <a:gridCol w="1557475"/>
                <a:gridCol w="585600"/>
                <a:gridCol w="600525"/>
                <a:gridCol w="525775"/>
                <a:gridCol w="510850"/>
                <a:gridCol w="531525"/>
                <a:gridCol w="587300"/>
              </a:tblGrid>
              <a:tr h="365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2024.1/2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2024.3/4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2025.1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2025.2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2025.3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2025.4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Etapa 1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Sora"/>
                          <a:ea typeface="Sora"/>
                          <a:cs typeface="Sora"/>
                          <a:sym typeface="Sora"/>
                        </a:rPr>
                        <a:t>x</a:t>
                      </a:r>
                      <a:endParaRPr sz="1000"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Sora"/>
                          <a:ea typeface="Sora"/>
                          <a:cs typeface="Sora"/>
                          <a:sym typeface="Sora"/>
                        </a:rPr>
                        <a:t>x</a:t>
                      </a:r>
                      <a:endParaRPr sz="1000"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Etapa 2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Sora"/>
                          <a:ea typeface="Sora"/>
                          <a:cs typeface="Sora"/>
                          <a:sym typeface="Sora"/>
                        </a:rPr>
                        <a:t>x</a:t>
                      </a:r>
                      <a:endParaRPr sz="1000"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Sora"/>
                          <a:ea typeface="Sora"/>
                          <a:cs typeface="Sora"/>
                          <a:sym typeface="Sora"/>
                        </a:rPr>
                        <a:t>x</a:t>
                      </a:r>
                      <a:endParaRPr sz="1000"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Etapa 3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Sora"/>
                          <a:ea typeface="Sora"/>
                          <a:cs typeface="Sora"/>
                          <a:sym typeface="Sora"/>
                        </a:rPr>
                        <a:t>x</a:t>
                      </a:r>
                      <a:endParaRPr sz="1000"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Etapa 4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Sora"/>
                          <a:ea typeface="Sora"/>
                          <a:cs typeface="Sora"/>
                          <a:sym typeface="Sora"/>
                        </a:rPr>
                        <a:t>x</a:t>
                      </a:r>
                      <a:endParaRPr sz="1000"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Etapa 5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Sora"/>
                          <a:ea typeface="Sora"/>
                          <a:cs typeface="Sora"/>
                          <a:sym typeface="Sora"/>
                        </a:rPr>
                        <a:t>x</a:t>
                      </a:r>
                      <a:endParaRPr sz="1000"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Sora"/>
                          <a:ea typeface="Sora"/>
                          <a:cs typeface="Sora"/>
                          <a:sym typeface="Sora"/>
                        </a:rPr>
                        <a:t>x</a:t>
                      </a:r>
                      <a:endParaRPr sz="1000"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Etapa 6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Sora"/>
                          <a:ea typeface="Sora"/>
                          <a:cs typeface="Sora"/>
                          <a:sym typeface="Sora"/>
                        </a:rPr>
                        <a:t>x</a:t>
                      </a:r>
                      <a:endParaRPr sz="1000"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9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Etapa 7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Sora"/>
                          <a:ea typeface="Sora"/>
                          <a:cs typeface="Sora"/>
                          <a:sym typeface="Sora"/>
                        </a:rPr>
                        <a:t>x</a:t>
                      </a:r>
                      <a:endParaRPr sz="1000"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Sora"/>
                          <a:ea typeface="Sora"/>
                          <a:cs typeface="Sora"/>
                          <a:sym typeface="Sora"/>
                        </a:rPr>
                        <a:t>x</a:t>
                      </a:r>
                      <a:endParaRPr sz="1000"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800"/>
                        <a:t>Etapa 8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Sora"/>
                          <a:ea typeface="Sora"/>
                          <a:cs typeface="Sora"/>
                          <a:sym typeface="Sora"/>
                        </a:rPr>
                        <a:t>x</a:t>
                      </a:r>
                      <a:endParaRPr sz="1000"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latin typeface="Sora"/>
                          <a:ea typeface="Sora"/>
                          <a:cs typeface="Sora"/>
                          <a:sym typeface="Sora"/>
                        </a:rPr>
                        <a:t>x</a:t>
                      </a:r>
                      <a:endParaRPr sz="1000"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9" name="Google Shape;249;p31"/>
          <p:cNvSpPr txBox="1"/>
          <p:nvPr/>
        </p:nvSpPr>
        <p:spPr>
          <a:xfrm>
            <a:off x="6145275" y="2070850"/>
            <a:ext cx="28185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latin typeface="Sora"/>
                <a:ea typeface="Sora"/>
                <a:cs typeface="Sora"/>
                <a:sym typeface="Sora"/>
              </a:rPr>
              <a:t>Etapa 1- Disciplinas</a:t>
            </a:r>
            <a:endParaRPr sz="1000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latin typeface="Sora"/>
                <a:ea typeface="Sora"/>
                <a:cs typeface="Sora"/>
                <a:sym typeface="Sora"/>
              </a:rPr>
              <a:t>Etapa 2 - Revisão bibliográfica</a:t>
            </a:r>
            <a:endParaRPr sz="1000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latin typeface="Sora"/>
                <a:ea typeface="Sora"/>
                <a:cs typeface="Sora"/>
                <a:sym typeface="Sora"/>
              </a:rPr>
              <a:t>Etapa 3 - Desenvolvimento da equação</a:t>
            </a:r>
            <a:endParaRPr sz="1000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latin typeface="Sora"/>
                <a:ea typeface="Sora"/>
                <a:cs typeface="Sora"/>
                <a:sym typeface="Sora"/>
              </a:rPr>
              <a:t>Etapa 4 - Definir caso teste/validação</a:t>
            </a:r>
            <a:endParaRPr sz="1000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latin typeface="Sora"/>
                <a:ea typeface="Sora"/>
                <a:cs typeface="Sora"/>
                <a:sym typeface="Sora"/>
              </a:rPr>
              <a:t>Etapa 5 - Implementação do problema</a:t>
            </a:r>
            <a:endParaRPr sz="1000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latin typeface="Sora"/>
                <a:ea typeface="Sora"/>
                <a:cs typeface="Sora"/>
                <a:sym typeface="Sora"/>
              </a:rPr>
              <a:t>Etapa 6 -Testes e validação</a:t>
            </a:r>
            <a:endParaRPr sz="1000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latin typeface="Sora"/>
                <a:ea typeface="Sora"/>
                <a:cs typeface="Sora"/>
                <a:sym typeface="Sora"/>
              </a:rPr>
              <a:t>Etapa 7 - Escrita de artigo</a:t>
            </a:r>
            <a:endParaRPr sz="1000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latin typeface="Sora"/>
                <a:ea typeface="Sora"/>
                <a:cs typeface="Sora"/>
                <a:sym typeface="Sora"/>
              </a:rPr>
              <a:t>Etapa 8 - Escrita da dissertação para defesa do mestrado</a:t>
            </a:r>
            <a:endParaRPr sz="1000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2"/>
          <p:cNvSpPr/>
          <p:nvPr/>
        </p:nvSpPr>
        <p:spPr>
          <a:xfrm>
            <a:off x="497250" y="1105648"/>
            <a:ext cx="47670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2800"/>
              <a:buFont typeface="Alexandria"/>
              <a:buNone/>
            </a:pPr>
            <a:r>
              <a:rPr lang="pt-BR" sz="2800">
                <a:solidFill>
                  <a:srgbClr val="1F1E1E"/>
                </a:solidFill>
                <a:latin typeface="Alexandria"/>
                <a:ea typeface="Alexandria"/>
                <a:cs typeface="Alexandria"/>
                <a:sym typeface="Alexandria"/>
              </a:rPr>
              <a:t>Bibliografia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32"/>
          <p:cNvSpPr/>
          <p:nvPr/>
        </p:nvSpPr>
        <p:spPr>
          <a:xfrm>
            <a:off x="8032800" y="4848250"/>
            <a:ext cx="1111200" cy="2166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32"/>
          <p:cNvSpPr/>
          <p:nvPr/>
        </p:nvSpPr>
        <p:spPr>
          <a:xfrm>
            <a:off x="8032800" y="4871550"/>
            <a:ext cx="1111200" cy="2166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2"/>
          <p:cNvSpPr txBox="1"/>
          <p:nvPr/>
        </p:nvSpPr>
        <p:spPr>
          <a:xfrm>
            <a:off x="497250" y="1831625"/>
            <a:ext cx="6594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404040"/>
                </a:solidFill>
                <a:highlight>
                  <a:srgbClr val="FFFFFF"/>
                </a:highlight>
                <a:latin typeface="Sora"/>
                <a:ea typeface="Sora"/>
                <a:cs typeface="Sora"/>
                <a:sym typeface="Sora"/>
              </a:rPr>
              <a:t>TAYLOR, Ross; KRISHNA, R.</a:t>
            </a:r>
            <a:r>
              <a:rPr lang="pt-BR" sz="1200">
                <a:solidFill>
                  <a:srgbClr val="404040"/>
                </a:solidFill>
                <a:highlight>
                  <a:srgbClr val="FFFFFF"/>
                </a:highlight>
                <a:latin typeface="Sora"/>
                <a:ea typeface="Sora"/>
                <a:cs typeface="Sora"/>
                <a:sym typeface="Sora"/>
              </a:rPr>
              <a:t> </a:t>
            </a:r>
            <a:r>
              <a:rPr i="1" lang="pt-BR" sz="1200">
                <a:solidFill>
                  <a:srgbClr val="404040"/>
                </a:solidFill>
                <a:highlight>
                  <a:srgbClr val="FFFFFF"/>
                </a:highlight>
                <a:latin typeface="Sora"/>
                <a:ea typeface="Sora"/>
                <a:cs typeface="Sora"/>
                <a:sym typeface="Sora"/>
              </a:rPr>
              <a:t>Multicomponent Mass Transfer</a:t>
            </a:r>
            <a:r>
              <a:rPr lang="pt-BR" sz="1200">
                <a:solidFill>
                  <a:srgbClr val="404040"/>
                </a:solidFill>
                <a:highlight>
                  <a:srgbClr val="FFFFFF"/>
                </a:highlight>
                <a:latin typeface="Sora"/>
                <a:ea typeface="Sora"/>
                <a:cs typeface="Sora"/>
                <a:sym typeface="Sora"/>
              </a:rPr>
              <a:t>. New York: Clarkson University; Amsterdam: University of Amsterdam. 1993.</a:t>
            </a:r>
            <a:endParaRPr sz="1200">
              <a:solidFill>
                <a:srgbClr val="404040"/>
              </a:solidFill>
              <a:highlight>
                <a:srgbClr val="FFFFFF"/>
              </a:highlight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04040"/>
              </a:solidFill>
              <a:highlight>
                <a:srgbClr val="FFFFFF"/>
              </a:highlight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404040"/>
                </a:solidFill>
                <a:highlight>
                  <a:srgbClr val="FFFFFF"/>
                </a:highlight>
                <a:latin typeface="Sora"/>
                <a:ea typeface="Sora"/>
                <a:cs typeface="Sora"/>
                <a:sym typeface="Sora"/>
              </a:rPr>
              <a:t>WESSELINGH, J. A.; KRISHNA, R.</a:t>
            </a:r>
            <a:r>
              <a:rPr lang="pt-BR" sz="1200">
                <a:solidFill>
                  <a:srgbClr val="404040"/>
                </a:solidFill>
                <a:highlight>
                  <a:srgbClr val="FFFFFF"/>
                </a:highlight>
                <a:latin typeface="Sora"/>
                <a:ea typeface="Sora"/>
                <a:cs typeface="Sora"/>
                <a:sym typeface="Sora"/>
              </a:rPr>
              <a:t> </a:t>
            </a:r>
            <a:r>
              <a:rPr i="1" lang="pt-BR" sz="1200">
                <a:solidFill>
                  <a:srgbClr val="404040"/>
                </a:solidFill>
                <a:highlight>
                  <a:srgbClr val="FFFFFF"/>
                </a:highlight>
                <a:latin typeface="Sora"/>
                <a:ea typeface="Sora"/>
                <a:cs typeface="Sora"/>
                <a:sym typeface="Sora"/>
              </a:rPr>
              <a:t>Mass Transfer in Multicomponent Mixtures</a:t>
            </a:r>
            <a:r>
              <a:rPr lang="pt-BR" sz="1200">
                <a:solidFill>
                  <a:srgbClr val="404040"/>
                </a:solidFill>
                <a:highlight>
                  <a:srgbClr val="FFFFFF"/>
                </a:highlight>
                <a:latin typeface="Sora"/>
                <a:ea typeface="Sora"/>
                <a:cs typeface="Sora"/>
                <a:sym typeface="Sora"/>
              </a:rPr>
              <a:t>. 2000.</a:t>
            </a:r>
            <a:endParaRPr sz="1200">
              <a:solidFill>
                <a:srgbClr val="404040"/>
              </a:solidFill>
              <a:highlight>
                <a:srgbClr val="FFFFFF"/>
              </a:highlight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3"/>
          <p:cNvSpPr/>
          <p:nvPr/>
        </p:nvSpPr>
        <p:spPr>
          <a:xfrm>
            <a:off x="3550700" y="1494125"/>
            <a:ext cx="2540700" cy="19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2800"/>
              <a:buFont typeface="Alexandria"/>
              <a:buNone/>
            </a:pPr>
            <a:r>
              <a:rPr lang="pt-BR" sz="2800">
                <a:solidFill>
                  <a:srgbClr val="1F1E1E"/>
                </a:solidFill>
                <a:latin typeface="Alexandria"/>
                <a:ea typeface="Alexandria"/>
                <a:cs typeface="Alexandria"/>
                <a:sym typeface="Alexandria"/>
              </a:rPr>
              <a:t>Obrigada!</a:t>
            </a:r>
            <a:endParaRPr sz="2800">
              <a:solidFill>
                <a:srgbClr val="1F1E1E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2800"/>
              <a:buFont typeface="Alexandria"/>
              <a:buNone/>
            </a:pPr>
            <a:r>
              <a:t/>
            </a:r>
            <a:endParaRPr sz="2800">
              <a:solidFill>
                <a:srgbClr val="1F1E1E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marR="0" rtl="0" algn="l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2800"/>
              <a:buFont typeface="Alexandria"/>
              <a:buNone/>
            </a:pPr>
            <a:r>
              <a:rPr lang="pt-BR" sz="2800">
                <a:solidFill>
                  <a:srgbClr val="1F1E1E"/>
                </a:solidFill>
                <a:latin typeface="Alexandria"/>
                <a:ea typeface="Alexandria"/>
                <a:cs typeface="Alexandria"/>
                <a:sym typeface="Alexandria"/>
              </a:rPr>
              <a:t>Perguntas?</a:t>
            </a:r>
            <a:endParaRPr sz="2800">
              <a:solidFill>
                <a:srgbClr val="1F1E1E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65" name="Google Shape;265;p33"/>
          <p:cNvSpPr/>
          <p:nvPr/>
        </p:nvSpPr>
        <p:spPr>
          <a:xfrm>
            <a:off x="8032800" y="4848250"/>
            <a:ext cx="1111200" cy="2166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33"/>
          <p:cNvSpPr/>
          <p:nvPr/>
        </p:nvSpPr>
        <p:spPr>
          <a:xfrm>
            <a:off x="8032800" y="4871550"/>
            <a:ext cx="1111200" cy="2166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